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B5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0" y="7315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0" y="7315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5B5FE6"/>
                </a:solidFill>
              </a:rPr>
              <a:t>🛡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MindGuard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914400" y="2743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Aplicație mobilă accesibilă pentru gestionarea anxietății la copii cu dizabilități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0" y="3520440"/>
            <a:ext cx="18288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3840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Chirilus Anastasia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Vatamaniuc Karina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Clasa a XI-a  •  InfoEducația 2026  •  Secțiunea Software Utilitar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B5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pe care o rezolvăm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931920" cy="3200400"/>
          </a:xfrm>
          <a:prstGeom prst="rect">
            <a:avLst/>
          </a:prstGeom>
          <a:solidFill>
            <a:srgbClr val="FCEB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41732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A3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30-50%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3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dintre copiii cu dizabilități prezintă tulburări de anxietate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36576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A3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Față de doar 8-18% la copiii fără dizabilități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41148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B3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(meta-analize în Child Psychiatry &amp; Human Development)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754880" y="13716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ce e nevoie de MindGuard: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754880" y="1920240"/>
            <a:ext cx="41148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Calm, Headspace nu sunt pentru copii cu dizabilități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Wysa nu permite utilizatori sub 13 ani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Aplicațiile populare costă 60-70$/an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Niciuna nu e disponibilă în limba română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Accesibilitatea reală e tratată superficial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B5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Soluția: MindGuard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aplicație mobilă personalizată în funcție de tipul de dizabilitate al copilului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97480" cy="3108960"/>
          </a:xfrm>
          <a:prstGeom prst="rect">
            <a:avLst/>
          </a:prstGeom>
          <a:solidFill>
            <a:srgbClr val="F8FAF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645920"/>
            <a:ext cx="2697480" cy="137160"/>
          </a:xfrm>
          <a:prstGeom prst="rect">
            <a:avLst/>
          </a:prstGeom>
          <a:solidFill>
            <a:srgbClr val="5B5FE6"/>
          </a:solidFill>
          <a:ln/>
        </p:spPr>
      </p:sp>
      <p:sp>
        <p:nvSpPr>
          <p:cNvPr id="6" name="Shape 4"/>
          <p:cNvSpPr/>
          <p:nvPr/>
        </p:nvSpPr>
        <p:spPr>
          <a:xfrm>
            <a:off x="1435608" y="1965960"/>
            <a:ext cx="731520" cy="731520"/>
          </a:xfrm>
          <a:prstGeom prst="ellipse">
            <a:avLst/>
          </a:prstGeom>
          <a:solidFill>
            <a:srgbClr val="5B5FE6"/>
          </a:solidFill>
          <a:ln/>
        </p:spPr>
      </p:sp>
      <p:sp>
        <p:nvSpPr>
          <p:cNvPr id="7" name="Text 5"/>
          <p:cNvSpPr/>
          <p:nvPr/>
        </p:nvSpPr>
        <p:spPr>
          <a:xfrm>
            <a:off x="1435608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FFFFF"/>
                </a:solidFill>
              </a:rPr>
              <a:t>🎯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48640" y="283464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Personalizare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333756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Interfața se adaptează în funcție de nevoile copilului (vizual, auditiv, motric, vorbire)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37560" y="1645920"/>
            <a:ext cx="2697480" cy="3108960"/>
          </a:xfrm>
          <a:prstGeom prst="rect">
            <a:avLst/>
          </a:prstGeom>
          <a:solidFill>
            <a:srgbClr val="F8FAFF"/>
          </a:solidFill>
          <a:ln/>
        </p:spPr>
      </p:sp>
      <p:sp>
        <p:nvSpPr>
          <p:cNvPr id="11" name="Shape 9"/>
          <p:cNvSpPr/>
          <p:nvPr/>
        </p:nvSpPr>
        <p:spPr>
          <a:xfrm>
            <a:off x="3337560" y="1645920"/>
            <a:ext cx="2697480" cy="137160"/>
          </a:xfrm>
          <a:prstGeom prst="rect">
            <a:avLst/>
          </a:prstGeom>
          <a:solidFill>
            <a:srgbClr val="26C6A0"/>
          </a:solidFill>
          <a:ln/>
        </p:spPr>
      </p:sp>
      <p:sp>
        <p:nvSpPr>
          <p:cNvPr id="12" name="Shape 10"/>
          <p:cNvSpPr/>
          <p:nvPr/>
        </p:nvSpPr>
        <p:spPr>
          <a:xfrm>
            <a:off x="4315968" y="1965960"/>
            <a:ext cx="731520" cy="731520"/>
          </a:xfrm>
          <a:prstGeom prst="ellipse">
            <a:avLst/>
          </a:prstGeom>
          <a:solidFill>
            <a:srgbClr val="26C6A0"/>
          </a:solidFill>
          <a:ln/>
        </p:spPr>
      </p:sp>
      <p:sp>
        <p:nvSpPr>
          <p:cNvPr id="13" name="Text 11"/>
          <p:cNvSpPr/>
          <p:nvPr/>
        </p:nvSpPr>
        <p:spPr>
          <a:xfrm>
            <a:off x="4315968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FFFFF"/>
                </a:solidFill>
              </a:rPr>
              <a:t>🌬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3429000" y="283464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Exerciții practice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520440" y="333756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Respirație ghidată, exerciții de calmare cu animații vizuale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1645920"/>
            <a:ext cx="2697480" cy="3108960"/>
          </a:xfrm>
          <a:prstGeom prst="rect">
            <a:avLst/>
          </a:prstGeom>
          <a:solidFill>
            <a:srgbClr val="F8FAFF"/>
          </a:solidFill>
          <a:ln/>
        </p:spPr>
      </p:sp>
      <p:sp>
        <p:nvSpPr>
          <p:cNvPr id="17" name="Shape 15"/>
          <p:cNvSpPr/>
          <p:nvPr/>
        </p:nvSpPr>
        <p:spPr>
          <a:xfrm>
            <a:off x="6217920" y="1645920"/>
            <a:ext cx="2697480" cy="137160"/>
          </a:xfrm>
          <a:prstGeom prst="rect">
            <a:avLst/>
          </a:prstGeom>
          <a:solidFill>
            <a:srgbClr val="FF7E5F"/>
          </a:solidFill>
          <a:ln/>
        </p:spPr>
      </p:sp>
      <p:sp>
        <p:nvSpPr>
          <p:cNvPr id="18" name="Shape 16"/>
          <p:cNvSpPr/>
          <p:nvPr/>
        </p:nvSpPr>
        <p:spPr>
          <a:xfrm>
            <a:off x="7196328" y="1965960"/>
            <a:ext cx="731520" cy="731520"/>
          </a:xfrm>
          <a:prstGeom prst="ellipse">
            <a:avLst/>
          </a:prstGeom>
          <a:solidFill>
            <a:srgbClr val="FF7E5F"/>
          </a:solidFill>
          <a:ln/>
        </p:spPr>
      </p:sp>
      <p:sp>
        <p:nvSpPr>
          <p:cNvPr id="19" name="Text 17"/>
          <p:cNvSpPr/>
          <p:nvPr/>
        </p:nvSpPr>
        <p:spPr>
          <a:xfrm>
            <a:off x="7196328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FFFFF"/>
                </a:solidFill>
              </a:rPr>
              <a:t>💬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6309360" y="283464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Comunitate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400800" y="333756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Forum moderat pentru a împărtăși experiențe și a primi sprijin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B5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Funcționalitățile aplicației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1280160"/>
            <a:ext cx="2697480" cy="1600200"/>
          </a:xfrm>
          <a:prstGeom prst="rect">
            <a:avLst/>
          </a:prstGeom>
          <a:solidFill>
            <a:srgbClr val="F8FAFF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280160"/>
            <a:ext cx="73152" cy="1600200"/>
          </a:xfrm>
          <a:prstGeom prst="rect">
            <a:avLst/>
          </a:prstGeom>
          <a:solidFill>
            <a:srgbClr val="5B5FE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5B5FE6"/>
                </a:solidFill>
              </a:rPr>
              <a:t>👁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88720" y="14630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personalizat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88720" y="19659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Selectare nevoi specifice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280160"/>
            <a:ext cx="2697480" cy="1600200"/>
          </a:xfrm>
          <a:prstGeom prst="rect">
            <a:avLst/>
          </a:prstGeom>
          <a:solidFill>
            <a:srgbClr val="F8FAFF"/>
          </a:solidFill>
          <a:ln/>
        </p:spPr>
      </p:sp>
      <p:sp>
        <p:nvSpPr>
          <p:cNvPr id="9" name="Shape 7"/>
          <p:cNvSpPr/>
          <p:nvPr/>
        </p:nvSpPr>
        <p:spPr>
          <a:xfrm>
            <a:off x="3246120" y="1280160"/>
            <a:ext cx="73152" cy="1600200"/>
          </a:xfrm>
          <a:prstGeom prst="rect">
            <a:avLst/>
          </a:prstGeom>
          <a:solidFill>
            <a:srgbClr val="5B5FE6"/>
          </a:solidFill>
          <a:ln/>
        </p:spPr>
      </p:sp>
      <p:sp>
        <p:nvSpPr>
          <p:cNvPr id="10" name="Text 8"/>
          <p:cNvSpPr/>
          <p:nvPr/>
        </p:nvSpPr>
        <p:spPr>
          <a:xfrm>
            <a:off x="342900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5B5FE6"/>
                </a:solidFill>
              </a:rPr>
              <a:t>🌬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069080" y="14630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Exerciții de respirație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069080" y="19659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Animate, cu temporizare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280160"/>
            <a:ext cx="2697480" cy="1600200"/>
          </a:xfrm>
          <a:prstGeom prst="rect">
            <a:avLst/>
          </a:prstGeom>
          <a:solidFill>
            <a:srgbClr val="F8FAFF"/>
          </a:solidFill>
          <a:ln/>
        </p:spPr>
      </p:sp>
      <p:sp>
        <p:nvSpPr>
          <p:cNvPr id="14" name="Shape 12"/>
          <p:cNvSpPr/>
          <p:nvPr/>
        </p:nvSpPr>
        <p:spPr>
          <a:xfrm>
            <a:off x="6126480" y="1280160"/>
            <a:ext cx="73152" cy="1600200"/>
          </a:xfrm>
          <a:prstGeom prst="rect">
            <a:avLst/>
          </a:prstGeom>
          <a:solidFill>
            <a:srgbClr val="5B5FE6"/>
          </a:solidFill>
          <a:ln/>
        </p:spPr>
      </p:sp>
      <p:sp>
        <p:nvSpPr>
          <p:cNvPr id="15" name="Text 13"/>
          <p:cNvSpPr/>
          <p:nvPr/>
        </p:nvSpPr>
        <p:spPr>
          <a:xfrm>
            <a:off x="630936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5B5FE6"/>
                </a:solidFill>
              </a:rPr>
              <a:t>📋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949440" y="14630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Chestionar emoțional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949440" y="19659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Auto-evaluare în 4 pași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063240"/>
            <a:ext cx="2697480" cy="1600200"/>
          </a:xfrm>
          <a:prstGeom prst="rect">
            <a:avLst/>
          </a:prstGeom>
          <a:solidFill>
            <a:srgbClr val="F8FAFF"/>
          </a:solidFill>
          <a:ln/>
        </p:spPr>
      </p:sp>
      <p:sp>
        <p:nvSpPr>
          <p:cNvPr id="19" name="Shape 17"/>
          <p:cNvSpPr/>
          <p:nvPr/>
        </p:nvSpPr>
        <p:spPr>
          <a:xfrm>
            <a:off x="365760" y="3063240"/>
            <a:ext cx="73152" cy="1600200"/>
          </a:xfrm>
          <a:prstGeom prst="rect">
            <a:avLst/>
          </a:prstGeom>
          <a:solidFill>
            <a:srgbClr val="5B5FE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5B5FE6"/>
                </a:solidFill>
              </a:rPr>
              <a:t>💬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1188720" y="32461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Forum comunitar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88720" y="37490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Postări moderate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46120" y="3063240"/>
            <a:ext cx="2697480" cy="1600200"/>
          </a:xfrm>
          <a:prstGeom prst="rect">
            <a:avLst/>
          </a:prstGeom>
          <a:solidFill>
            <a:srgbClr val="F8FAFF"/>
          </a:solidFill>
          <a:ln/>
        </p:spPr>
      </p:sp>
      <p:sp>
        <p:nvSpPr>
          <p:cNvPr id="24" name="Shape 22"/>
          <p:cNvSpPr/>
          <p:nvPr/>
        </p:nvSpPr>
        <p:spPr>
          <a:xfrm>
            <a:off x="3246120" y="3063240"/>
            <a:ext cx="73152" cy="1600200"/>
          </a:xfrm>
          <a:prstGeom prst="rect">
            <a:avLst/>
          </a:prstGeom>
          <a:solidFill>
            <a:srgbClr val="5B5FE6"/>
          </a:solidFill>
          <a:ln/>
        </p:spPr>
      </p:sp>
      <p:sp>
        <p:nvSpPr>
          <p:cNvPr id="25" name="Text 23"/>
          <p:cNvSpPr/>
          <p:nvPr/>
        </p:nvSpPr>
        <p:spPr>
          <a:xfrm>
            <a:off x="342900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5B5FE6"/>
                </a:solidFill>
              </a:rPr>
              <a:t>🌗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4069080" y="32461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 contrast înalt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069080" y="37490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Negru + galben pentru deficienți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26480" y="3063240"/>
            <a:ext cx="2697480" cy="1600200"/>
          </a:xfrm>
          <a:prstGeom prst="rect">
            <a:avLst/>
          </a:prstGeom>
          <a:solidFill>
            <a:srgbClr val="F8FAFF"/>
          </a:solidFill>
          <a:ln/>
        </p:spPr>
      </p:sp>
      <p:sp>
        <p:nvSpPr>
          <p:cNvPr id="29" name="Shape 27"/>
          <p:cNvSpPr/>
          <p:nvPr/>
        </p:nvSpPr>
        <p:spPr>
          <a:xfrm>
            <a:off x="6126480" y="3063240"/>
            <a:ext cx="73152" cy="1600200"/>
          </a:xfrm>
          <a:prstGeom prst="rect">
            <a:avLst/>
          </a:prstGeom>
          <a:solidFill>
            <a:srgbClr val="5B5FE6"/>
          </a:solidFill>
          <a:ln/>
        </p:spPr>
      </p:sp>
      <p:sp>
        <p:nvSpPr>
          <p:cNvPr id="30" name="Text 28"/>
          <p:cNvSpPr/>
          <p:nvPr/>
        </p:nvSpPr>
        <p:spPr>
          <a:xfrm>
            <a:off x="630936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5B5FE6"/>
                </a:solidFill>
              </a:rPr>
              <a:t>⚙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6949440" y="32461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Setări accesibilitate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949440" y="37490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Personalizabile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B5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Tehnologii folosite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modern, open-source, cross-platform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" cy="548640"/>
          </a:xfrm>
          <a:prstGeom prst="ellipse">
            <a:avLst/>
          </a:prstGeom>
          <a:solidFill>
            <a:srgbClr val="5B5FE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🐍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63040" y="1554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3.14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63040" y="192024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Limbaj principal — clar, lizibil, parte din programa școlară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377440"/>
            <a:ext cx="548640" cy="548640"/>
          </a:xfrm>
          <a:prstGeom prst="ellipse">
            <a:avLst/>
          </a:prstGeom>
          <a:solidFill>
            <a:srgbClr val="5B5FE6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📱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463040" y="23317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269748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cross-platform UI (bazat pe Flutter). Android, iOS, Web, Desktop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154680"/>
            <a:ext cx="548640" cy="548640"/>
          </a:xfrm>
          <a:prstGeom prst="ellipse">
            <a:avLst/>
          </a:prstGeom>
          <a:solidFill>
            <a:srgbClr val="5B5FE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154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⏱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463040" y="3108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asyncio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347472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Pentru exerciții temporizate fără blocarea interfeței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931920"/>
            <a:ext cx="548640" cy="548640"/>
          </a:xfrm>
          <a:prstGeom prst="ellipse">
            <a:avLst/>
          </a:prstGeom>
          <a:solidFill>
            <a:srgbClr val="5B5FE6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🐙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463040" y="3886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+ GitHub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63040" y="425196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Versionare, colaborare, gestionare sarcini prin Issues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B5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Arhitectura aplicației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unidirecțional inspirat din React/Flutter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371600" y="1691640"/>
            <a:ext cx="6400800" cy="502920"/>
          </a:xfrm>
          <a:prstGeom prst="rect">
            <a:avLst/>
          </a:prstGeom>
          <a:solidFill>
            <a:srgbClr val="5B5FE6"/>
          </a:solidFill>
          <a:ln/>
        </p:spPr>
      </p:sp>
      <p:sp>
        <p:nvSpPr>
          <p:cNvPr id="5" name="Text 3"/>
          <p:cNvSpPr/>
          <p:nvPr/>
        </p:nvSpPr>
        <p:spPr>
          <a:xfrm>
            <a:off x="1554480" y="16916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Stratul de prezentare (UI)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754880" y="16916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 Flet — ecranele aplicației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0" y="21488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B7280"/>
                </a:solidFill>
              </a:rPr>
              <a:t>↓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371600" y="2331720"/>
            <a:ext cx="6400800" cy="502920"/>
          </a:xfrm>
          <a:prstGeom prst="rect">
            <a:avLst/>
          </a:prstGeom>
          <a:solidFill>
            <a:srgbClr val="7F77DD"/>
          </a:solidFill>
          <a:ln/>
        </p:spPr>
      </p:sp>
      <p:sp>
        <p:nvSpPr>
          <p:cNvPr id="9" name="Text 7"/>
          <p:cNvSpPr/>
          <p:nvPr/>
        </p:nvSpPr>
        <p:spPr>
          <a:xfrm>
            <a:off x="1554480" y="23317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Stratul de logică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54880" y="23317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Tranziții, exerciții asyncio, procesare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0" y="27889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B7280"/>
                </a:solidFill>
              </a:rPr>
              <a:t>↓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371600" y="2971800"/>
            <a:ext cx="6400800" cy="502920"/>
          </a:xfrm>
          <a:prstGeom prst="rect">
            <a:avLst/>
          </a:prstGeom>
          <a:solidFill>
            <a:srgbClr val="26C6A0"/>
          </a:solidFill>
          <a:ln/>
        </p:spPr>
      </p:sp>
      <p:sp>
        <p:nvSpPr>
          <p:cNvPr id="13" name="Text 11"/>
          <p:cNvSpPr/>
          <p:nvPr/>
        </p:nvSpPr>
        <p:spPr>
          <a:xfrm>
            <a:off x="1554480" y="29718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Stratul de stare (AppState)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54880" y="29718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Source of Truth pentru toate datele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0" y="342900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B7280"/>
                </a:solidFill>
              </a:rPr>
              <a:t>↓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371600" y="3611880"/>
            <a:ext cx="6400800" cy="502920"/>
          </a:xfrm>
          <a:prstGeom prst="rect">
            <a:avLst/>
          </a:prstGeom>
          <a:solidFill>
            <a:srgbClr val="FF7E5F"/>
          </a:solidFill>
          <a:ln/>
        </p:spPr>
      </p:sp>
      <p:sp>
        <p:nvSpPr>
          <p:cNvPr id="17" name="Text 15"/>
          <p:cNvSpPr/>
          <p:nvPr/>
        </p:nvSpPr>
        <p:spPr>
          <a:xfrm>
            <a:off x="1554480" y="36118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Sistemul de teme (get_colors)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754880" y="36118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Paletă activă — comutare contrast înalt instant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Acțiunile utilizatorului → modifică starea → declanșează re-randarea UI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B5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 ne diferențiem de concurență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463040"/>
                <a:gridCol w="1463040"/>
                <a:gridCol w="146304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5F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MindGuard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5F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5F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Headspace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5F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Wysa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5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Pentru copii cu dizabilități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6E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A3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A3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A3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sub 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Gratuit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6E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A3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$70/an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A3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$70/an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Freemium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Personalizare per dizabilitate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6E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A3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A3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Parțial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Limba română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6E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A3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A3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A3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Forum comunitar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6E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A3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A3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A3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6E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A3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A3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A3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B5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Echipa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Două eleve de clasa a XI-a, fiecare cu pasiunea și competențele ei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749040" cy="3108960"/>
          </a:xfrm>
          <a:prstGeom prst="rect">
            <a:avLst/>
          </a:prstGeom>
          <a:solidFill>
            <a:srgbClr val="F8FAFF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691640"/>
            <a:ext cx="3749040" cy="548640"/>
          </a:xfrm>
          <a:prstGeom prst="rect">
            <a:avLst/>
          </a:prstGeom>
          <a:solidFill>
            <a:srgbClr val="5B5FE6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916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Chirilus Anastasia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3317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5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Manager &amp; UX Designer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788920"/>
            <a:ext cx="33832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Coordonare echipă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Cercetare utilizatori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UX &amp; wireframes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Documentație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Validare cu specialiști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Gestionare Instagram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691640"/>
            <a:ext cx="3749040" cy="3108960"/>
          </a:xfrm>
          <a:prstGeom prst="rect">
            <a:avLst/>
          </a:prstGeom>
          <a:solidFill>
            <a:srgbClr val="F8FAFF"/>
          </a:solidFill>
          <a:ln/>
        </p:spPr>
      </p:sp>
      <p:sp>
        <p:nvSpPr>
          <p:cNvPr id="10" name="Shape 8"/>
          <p:cNvSpPr/>
          <p:nvPr/>
        </p:nvSpPr>
        <p:spPr>
          <a:xfrm>
            <a:off x="4754880" y="1691640"/>
            <a:ext cx="3749040" cy="548640"/>
          </a:xfrm>
          <a:prstGeom prst="rect">
            <a:avLst/>
          </a:prstGeom>
          <a:solidFill>
            <a:srgbClr val="26C6A0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6916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Vatamaniuc Karina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937760" y="23317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6C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Developer &amp; Content Creator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0" y="2788920"/>
            <a:ext cx="33832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Implementare Python/Flet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Arhitectura tehnică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Gestionare GitHub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Feature-uri accesibilitate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Testare funcțională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Conținut vizual Instagram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B5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Securitate și validarea datelor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Mecanisme de protecție pentru o aplicație destinată copiilor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4023360" cy="3200400"/>
          </a:xfrm>
          <a:prstGeom prst="rect">
            <a:avLst/>
          </a:prstGeom>
          <a:solidFill>
            <a:srgbClr val="F8FAF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645920"/>
            <a:ext cx="91440" cy="3200400"/>
          </a:xfrm>
          <a:prstGeom prst="rect">
            <a:avLst/>
          </a:prstGeom>
          <a:solidFill>
            <a:srgbClr val="26C6A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83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Validarea input-ului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5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Funcția sanitize_text()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651760"/>
            <a:ext cx="35661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Verificare tip date (string)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Lungime minimă: 3 caractere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Lungime maximă: 500 caractere (protecție DoS)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Eliminare caractere de control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Filtrare cuvinte interzise (moderare)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645920"/>
            <a:ext cx="4023360" cy="3200400"/>
          </a:xfrm>
          <a:prstGeom prst="rect">
            <a:avLst/>
          </a:prstGeom>
          <a:solidFill>
            <a:srgbClr val="F8FAFF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1645920"/>
            <a:ext cx="91440" cy="3200400"/>
          </a:xfrm>
          <a:prstGeom prst="rect">
            <a:avLst/>
          </a:prstGeom>
          <a:solidFill>
            <a:srgbClr val="FF7E5F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783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Tratarea excepțiilor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93776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7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Blocuri try/except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0" y="2651760"/>
            <a:ext cx="35661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add_post(): AttributeError + catch-all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start_exercise_timer(): CancelledError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 finally pentru cleanup asyncio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Validare durate exerciții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Mesaje de eroare prietenoase utilizatorului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B5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— ce urmează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Proiectul nostru nu se oprește la concurs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48640" cy="548640"/>
          </a:xfrm>
          <a:prstGeom prst="ellipse">
            <a:avLst/>
          </a:prstGeom>
          <a:solidFill>
            <a:srgbClr val="5B5FE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63040" y="16002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5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Iunie 2026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63040" y="18928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Stabilizare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297680" y="16459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unitare, persistență SQLite, text-to-speech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548640" cy="548640"/>
          </a:xfrm>
          <a:prstGeom prst="ellipse">
            <a:avLst/>
          </a:prstGeom>
          <a:solidFill>
            <a:srgbClr val="7F77DD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463040" y="2377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F7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Vară 2026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3040" y="26700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Extindere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297680" y="24231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exerciții, lecții emoții, limba semnelor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200400"/>
            <a:ext cx="548640" cy="548640"/>
          </a:xfrm>
          <a:prstGeom prst="ellipse">
            <a:avLst/>
          </a:prstGeom>
          <a:solidFill>
            <a:srgbClr val="26C6A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463040" y="3154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C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Toamnă 2026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463040" y="34472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Comunitate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297680" y="32004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Moderare forum, raportare, focus group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3977640"/>
            <a:ext cx="548640" cy="548640"/>
          </a:xfrm>
          <a:prstGeom prst="ellipse">
            <a:avLst/>
          </a:prstGeom>
          <a:solidFill>
            <a:srgbClr val="FF7E5F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977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463040" y="3931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7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463040" y="42245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Lansare publică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297680" y="39776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Play, App Store, parteneriate ONG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5B5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ce contează MindGuard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15544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"Anxietatea nu cunoaște granițe — afectează orice copil, indiferent de capacitățile sale fizice."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914400" y="24688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 instrumentele de combatere a ei sunt, în prezent, disponibile aproape exclusiv pentru persoanele fără dizabilități.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0" y="3474720"/>
            <a:ext cx="18288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657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 MindGuard, facem un prim pas concret către corectarea acestui dezechilibru.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4297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EC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Pentru fiecare copil care merită să se simtă înțeles, în siguranță și în control.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5B5FE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5B5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Mulțumim!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Suntem deschise pentru întrebări și colaborări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71600" y="3200400"/>
            <a:ext cx="2743200" cy="1005840"/>
          </a:xfrm>
          <a:prstGeom prst="rect">
            <a:avLst/>
          </a:prstGeom>
          <a:solidFill>
            <a:srgbClr val="F8FAFF"/>
          </a:solidFill>
          <a:ln/>
        </p:spPr>
      </p:sp>
      <p:sp>
        <p:nvSpPr>
          <p:cNvPr id="6" name="Shape 4"/>
          <p:cNvSpPr/>
          <p:nvPr/>
        </p:nvSpPr>
        <p:spPr>
          <a:xfrm>
            <a:off x="1371600" y="3200400"/>
            <a:ext cx="2743200" cy="73152"/>
          </a:xfrm>
          <a:prstGeom prst="rect">
            <a:avLst/>
          </a:prstGeom>
          <a:solidFill>
            <a:srgbClr val="5B5FE6"/>
          </a:solidFill>
          <a:ln/>
        </p:spPr>
      </p:sp>
      <p:sp>
        <p:nvSpPr>
          <p:cNvPr id="7" name="Text 5"/>
          <p:cNvSpPr/>
          <p:nvPr/>
        </p:nvSpPr>
        <p:spPr>
          <a:xfrm>
            <a:off x="1554480" y="33832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📷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2194560" y="3383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5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194560" y="3703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@mind_guard_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0" y="3200400"/>
            <a:ext cx="2743200" cy="1005840"/>
          </a:xfrm>
          <a:prstGeom prst="rect">
            <a:avLst/>
          </a:prstGeom>
          <a:solidFill>
            <a:srgbClr val="F8FA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0" y="3200400"/>
            <a:ext cx="2743200" cy="73152"/>
          </a:xfrm>
          <a:prstGeom prst="rect">
            <a:avLst/>
          </a:prstGeom>
          <a:solidFill>
            <a:srgbClr val="5B5FE6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33832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🐙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94960" y="3383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5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394960" y="3703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github.com/chirilusanastasia-blip/MindGuard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Chirilus Anastasia  •  Vatamaniuc Karina  •  Clasa a XI-a  •  InfoEducația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MindGuard - InfoEducația 2026</dc:title>
  <dc:subject>PptxGenJS Presentation</dc:subject>
  <dc:creator>Chirilus Anastasia &amp; Vatamaniuc Karina</dc:creator>
  <cp:lastModifiedBy>Chirilus Anastasia &amp; Vatamaniuc Karina</cp:lastModifiedBy>
  <cp:revision>1</cp:revision>
  <dcterms:created xsi:type="dcterms:W3CDTF">2026-05-15T20:10:40Z</dcterms:created>
  <dcterms:modified xsi:type="dcterms:W3CDTF">2026-05-15T20:10:40Z</dcterms:modified>
</cp:coreProperties>
</file>