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66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0242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B5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0" y="73152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0" y="7315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5B5FE6"/>
                </a:solidFill>
              </a:rPr>
              <a:t>🛡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MindGuard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Aplicație mobilă accesibilă pentru gestionarea anxietății la copii cu dizabilități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0" y="3520440"/>
            <a:ext cx="1828800" cy="45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840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Chirilus Anastasia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Vatamaniuc Karina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Clasa a XI-a  •  InfoEducația 2026  •  Secțiunea Software Utilitar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5B5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pe care o rezolvăm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3931920" cy="3200400"/>
          </a:xfrm>
          <a:prstGeom prst="rect">
            <a:avLst/>
          </a:prstGeom>
          <a:solidFill>
            <a:srgbClr val="FCEBE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41732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30-50%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640080" y="265176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dintre copiii cu dizabilități prezintă tulburări de anxietate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36576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Față de doar 8-18% la copiii fără dizabilități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41148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B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(meta-analize în Child Psychiatry &amp; Human Development)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54880" y="13716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ce e nevoie de MindGuard: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754880" y="1920240"/>
            <a:ext cx="4114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Calm, Headspace nu sunt pentru copii cu dizabilități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Wysa nu permite utilizatori sub 13 ani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Aplicațiile populare costă 60-70$/an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Niciuna nu e disponibilă în limba română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Accesibilitatea reală e tratată superficial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5B5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Soluția: MindGuard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aplicație mobilă personalizată în funcție de tipul de dizabilitate al copilului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2697480" cy="3108960"/>
          </a:xfrm>
          <a:prstGeom prst="rect">
            <a:avLst/>
          </a:prstGeom>
          <a:solidFill>
            <a:srgbClr val="F8FAF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645920"/>
            <a:ext cx="2697480" cy="137160"/>
          </a:xfrm>
          <a:prstGeom prst="rect">
            <a:avLst/>
          </a:prstGeom>
          <a:solidFill>
            <a:srgbClr val="5B5FE6"/>
          </a:solidFill>
          <a:ln/>
        </p:spPr>
      </p:sp>
      <p:sp>
        <p:nvSpPr>
          <p:cNvPr id="6" name="Shape 4"/>
          <p:cNvSpPr/>
          <p:nvPr/>
        </p:nvSpPr>
        <p:spPr>
          <a:xfrm>
            <a:off x="1435608" y="1965960"/>
            <a:ext cx="731520" cy="731520"/>
          </a:xfrm>
          <a:prstGeom prst="ellipse">
            <a:avLst/>
          </a:prstGeom>
          <a:solidFill>
            <a:srgbClr val="5B5FE6"/>
          </a:solidFill>
          <a:ln/>
        </p:spPr>
      </p:sp>
      <p:sp>
        <p:nvSpPr>
          <p:cNvPr id="7" name="Text 5"/>
          <p:cNvSpPr/>
          <p:nvPr/>
        </p:nvSpPr>
        <p:spPr>
          <a:xfrm>
            <a:off x="1435608" y="1965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FFFFFF"/>
                </a:solidFill>
              </a:rPr>
              <a:t>🎯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48640" y="28346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Personalizare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333756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Interfața se adaptează în funcție de nevoile copilului (vizual, auditiv, motric, vorbire)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37560" y="1645920"/>
            <a:ext cx="2697480" cy="3108960"/>
          </a:xfrm>
          <a:prstGeom prst="rect">
            <a:avLst/>
          </a:prstGeom>
          <a:solidFill>
            <a:srgbClr val="F8FAFF"/>
          </a:solidFill>
          <a:ln/>
        </p:spPr>
      </p:sp>
      <p:sp>
        <p:nvSpPr>
          <p:cNvPr id="11" name="Shape 9"/>
          <p:cNvSpPr/>
          <p:nvPr/>
        </p:nvSpPr>
        <p:spPr>
          <a:xfrm>
            <a:off x="3337560" y="1645920"/>
            <a:ext cx="2697480" cy="137160"/>
          </a:xfrm>
          <a:prstGeom prst="rect">
            <a:avLst/>
          </a:prstGeom>
          <a:solidFill>
            <a:srgbClr val="26C6A0"/>
          </a:solidFill>
          <a:ln/>
        </p:spPr>
      </p:sp>
      <p:sp>
        <p:nvSpPr>
          <p:cNvPr id="12" name="Shape 10"/>
          <p:cNvSpPr/>
          <p:nvPr/>
        </p:nvSpPr>
        <p:spPr>
          <a:xfrm>
            <a:off x="4315968" y="1965960"/>
            <a:ext cx="731520" cy="731520"/>
          </a:xfrm>
          <a:prstGeom prst="ellipse">
            <a:avLst/>
          </a:prstGeom>
          <a:solidFill>
            <a:srgbClr val="26C6A0"/>
          </a:solidFill>
          <a:ln/>
        </p:spPr>
      </p:sp>
      <p:sp>
        <p:nvSpPr>
          <p:cNvPr id="13" name="Text 11"/>
          <p:cNvSpPr/>
          <p:nvPr/>
        </p:nvSpPr>
        <p:spPr>
          <a:xfrm>
            <a:off x="4315968" y="1965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FFFFFF"/>
                </a:solidFill>
              </a:rPr>
              <a:t>🌬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3429000" y="28346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Exerciții practice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520440" y="333756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Respirație ghidată, exerciții de calmare cu animații vizuale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1645920"/>
            <a:ext cx="2697480" cy="3108960"/>
          </a:xfrm>
          <a:prstGeom prst="rect">
            <a:avLst/>
          </a:prstGeom>
          <a:solidFill>
            <a:srgbClr val="F8FAFF"/>
          </a:solidFill>
          <a:ln/>
        </p:spPr>
      </p:sp>
      <p:sp>
        <p:nvSpPr>
          <p:cNvPr id="17" name="Shape 15"/>
          <p:cNvSpPr/>
          <p:nvPr/>
        </p:nvSpPr>
        <p:spPr>
          <a:xfrm>
            <a:off x="6217920" y="1645920"/>
            <a:ext cx="2697480" cy="137160"/>
          </a:xfrm>
          <a:prstGeom prst="rect">
            <a:avLst/>
          </a:prstGeom>
          <a:solidFill>
            <a:srgbClr val="FF7E5F"/>
          </a:solidFill>
          <a:ln/>
        </p:spPr>
      </p:sp>
      <p:sp>
        <p:nvSpPr>
          <p:cNvPr id="18" name="Shape 16"/>
          <p:cNvSpPr/>
          <p:nvPr/>
        </p:nvSpPr>
        <p:spPr>
          <a:xfrm>
            <a:off x="7196328" y="1965960"/>
            <a:ext cx="731520" cy="731520"/>
          </a:xfrm>
          <a:prstGeom prst="ellipse">
            <a:avLst/>
          </a:prstGeom>
          <a:solidFill>
            <a:srgbClr val="FF7E5F"/>
          </a:solidFill>
          <a:ln/>
        </p:spPr>
      </p:sp>
      <p:sp>
        <p:nvSpPr>
          <p:cNvPr id="19" name="Text 17"/>
          <p:cNvSpPr/>
          <p:nvPr/>
        </p:nvSpPr>
        <p:spPr>
          <a:xfrm>
            <a:off x="7196328" y="1965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FFFFFF"/>
                </a:solidFill>
              </a:rPr>
              <a:t>💬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6309360" y="28346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Comunitate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400800" y="333756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Forum moderat pentru a împărtăși experiențe și a primi sprijin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5B5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Funcționalitățile aplicației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280160"/>
            <a:ext cx="2697480" cy="1600200"/>
          </a:xfrm>
          <a:prstGeom prst="rect">
            <a:avLst/>
          </a:prstGeom>
          <a:solidFill>
            <a:srgbClr val="F8FAFF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280160"/>
            <a:ext cx="73152" cy="1600200"/>
          </a:xfrm>
          <a:prstGeom prst="rect">
            <a:avLst/>
          </a:prstGeom>
          <a:solidFill>
            <a:srgbClr val="5B5FE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5B5FE6"/>
                </a:solidFill>
              </a:rPr>
              <a:t>👁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188720" y="1463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personalizat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19659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Selectare nevoi specifice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1280160"/>
            <a:ext cx="2697480" cy="1600200"/>
          </a:xfrm>
          <a:prstGeom prst="rect">
            <a:avLst/>
          </a:prstGeom>
          <a:solidFill>
            <a:srgbClr val="F8FAFF"/>
          </a:solidFill>
          <a:ln/>
        </p:spPr>
      </p:sp>
      <p:sp>
        <p:nvSpPr>
          <p:cNvPr id="9" name="Shape 7"/>
          <p:cNvSpPr/>
          <p:nvPr/>
        </p:nvSpPr>
        <p:spPr>
          <a:xfrm>
            <a:off x="3246120" y="1280160"/>
            <a:ext cx="73152" cy="1600200"/>
          </a:xfrm>
          <a:prstGeom prst="rect">
            <a:avLst/>
          </a:prstGeom>
          <a:solidFill>
            <a:srgbClr val="5B5FE6"/>
          </a:solidFill>
          <a:ln/>
        </p:spPr>
      </p:sp>
      <p:sp>
        <p:nvSpPr>
          <p:cNvPr id="10" name="Text 8"/>
          <p:cNvSpPr/>
          <p:nvPr/>
        </p:nvSpPr>
        <p:spPr>
          <a:xfrm>
            <a:off x="342900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5B5FE6"/>
                </a:solidFill>
              </a:rPr>
              <a:t>🌬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069080" y="1463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Exerciții de respirație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069080" y="19659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Animate, cu temporizare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280160"/>
            <a:ext cx="2697480" cy="1600200"/>
          </a:xfrm>
          <a:prstGeom prst="rect">
            <a:avLst/>
          </a:prstGeom>
          <a:solidFill>
            <a:srgbClr val="F8FAFF"/>
          </a:solidFill>
          <a:ln/>
        </p:spPr>
      </p:sp>
      <p:sp>
        <p:nvSpPr>
          <p:cNvPr id="14" name="Shape 12"/>
          <p:cNvSpPr/>
          <p:nvPr/>
        </p:nvSpPr>
        <p:spPr>
          <a:xfrm>
            <a:off x="6126480" y="1280160"/>
            <a:ext cx="73152" cy="1600200"/>
          </a:xfrm>
          <a:prstGeom prst="rect">
            <a:avLst/>
          </a:prstGeom>
          <a:solidFill>
            <a:srgbClr val="5B5FE6"/>
          </a:solidFill>
          <a:ln/>
        </p:spPr>
      </p:sp>
      <p:sp>
        <p:nvSpPr>
          <p:cNvPr id="15" name="Text 13"/>
          <p:cNvSpPr/>
          <p:nvPr/>
        </p:nvSpPr>
        <p:spPr>
          <a:xfrm>
            <a:off x="630936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5B5FE6"/>
                </a:solidFill>
              </a:rPr>
              <a:t>📋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949440" y="1463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Chestionar emoțional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949440" y="19659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Auto-evaluare în 4 pași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063240"/>
            <a:ext cx="2697480" cy="1600200"/>
          </a:xfrm>
          <a:prstGeom prst="rect">
            <a:avLst/>
          </a:prstGeom>
          <a:solidFill>
            <a:srgbClr val="F8FAFF"/>
          </a:solidFill>
          <a:ln/>
        </p:spPr>
      </p:sp>
      <p:sp>
        <p:nvSpPr>
          <p:cNvPr id="19" name="Shape 17"/>
          <p:cNvSpPr/>
          <p:nvPr/>
        </p:nvSpPr>
        <p:spPr>
          <a:xfrm>
            <a:off x="365760" y="3063240"/>
            <a:ext cx="73152" cy="1600200"/>
          </a:xfrm>
          <a:prstGeom prst="rect">
            <a:avLst/>
          </a:prstGeom>
          <a:solidFill>
            <a:srgbClr val="5B5FE6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200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5B5FE6"/>
                </a:solidFill>
              </a:rPr>
              <a:t>💬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1188720" y="32461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Forum comunitar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88720" y="374904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Postări moderate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46120" y="3063240"/>
            <a:ext cx="2697480" cy="1600200"/>
          </a:xfrm>
          <a:prstGeom prst="rect">
            <a:avLst/>
          </a:prstGeom>
          <a:solidFill>
            <a:srgbClr val="F8FAFF"/>
          </a:solidFill>
          <a:ln/>
        </p:spPr>
      </p:sp>
      <p:sp>
        <p:nvSpPr>
          <p:cNvPr id="24" name="Shape 22"/>
          <p:cNvSpPr/>
          <p:nvPr/>
        </p:nvSpPr>
        <p:spPr>
          <a:xfrm>
            <a:off x="3246120" y="3063240"/>
            <a:ext cx="73152" cy="1600200"/>
          </a:xfrm>
          <a:prstGeom prst="rect">
            <a:avLst/>
          </a:prstGeom>
          <a:solidFill>
            <a:srgbClr val="5B5FE6"/>
          </a:solidFill>
          <a:ln/>
        </p:spPr>
      </p:sp>
      <p:sp>
        <p:nvSpPr>
          <p:cNvPr id="25" name="Text 23"/>
          <p:cNvSpPr/>
          <p:nvPr/>
        </p:nvSpPr>
        <p:spPr>
          <a:xfrm>
            <a:off x="3429000" y="3200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5B5FE6"/>
                </a:solidFill>
              </a:rPr>
              <a:t>🌗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4069080" y="32461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 contrast înalt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069080" y="374904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Negru + galben pentru deficienți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26480" y="3063240"/>
            <a:ext cx="2697480" cy="1600200"/>
          </a:xfrm>
          <a:prstGeom prst="rect">
            <a:avLst/>
          </a:prstGeom>
          <a:solidFill>
            <a:srgbClr val="F8FAFF"/>
          </a:solidFill>
          <a:ln/>
        </p:spPr>
      </p:sp>
      <p:sp>
        <p:nvSpPr>
          <p:cNvPr id="29" name="Shape 27"/>
          <p:cNvSpPr/>
          <p:nvPr/>
        </p:nvSpPr>
        <p:spPr>
          <a:xfrm>
            <a:off x="6126480" y="3063240"/>
            <a:ext cx="73152" cy="1600200"/>
          </a:xfrm>
          <a:prstGeom prst="rect">
            <a:avLst/>
          </a:prstGeom>
          <a:solidFill>
            <a:srgbClr val="5B5FE6"/>
          </a:solidFill>
          <a:ln/>
        </p:spPr>
      </p:sp>
      <p:sp>
        <p:nvSpPr>
          <p:cNvPr id="30" name="Text 28"/>
          <p:cNvSpPr/>
          <p:nvPr/>
        </p:nvSpPr>
        <p:spPr>
          <a:xfrm>
            <a:off x="6309360" y="3200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5B5FE6"/>
                </a:solidFill>
              </a:rPr>
              <a:t>⚙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6949440" y="32461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Setări accesibilitate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949440" y="374904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Personalizabile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5B5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Tehnologii folosite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modern, open-source, cross-platform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48640" cy="548640"/>
          </a:xfrm>
          <a:prstGeom prst="ellipse">
            <a:avLst/>
          </a:prstGeom>
          <a:solidFill>
            <a:srgbClr val="5B5FE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</a:rPr>
              <a:t>🐍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63040" y="15544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3.14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192024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Limbaj principal — clar, lizibil, parte din programa școlară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377440"/>
            <a:ext cx="548640" cy="548640"/>
          </a:xfrm>
          <a:prstGeom prst="ellipse">
            <a:avLst/>
          </a:prstGeom>
          <a:solidFill>
            <a:srgbClr val="5B5FE6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</a:rPr>
              <a:t>📱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463040" y="2331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63040" y="269748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cross-platform UI (bazat pe Flutter). Android, iOS, Web, Desktop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154680"/>
            <a:ext cx="548640" cy="548640"/>
          </a:xfrm>
          <a:prstGeom prst="ellipse">
            <a:avLst/>
          </a:prstGeom>
          <a:solidFill>
            <a:srgbClr val="5B5FE6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154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</a:rPr>
              <a:t>⏱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463040" y="31089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asyncio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63040" y="347472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Pentru exerciții temporizate fără blocarea interfeței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931920"/>
            <a:ext cx="548640" cy="548640"/>
          </a:xfrm>
          <a:prstGeom prst="ellipse">
            <a:avLst/>
          </a:prstGeom>
          <a:solidFill>
            <a:srgbClr val="5B5FE6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931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</a:rPr>
              <a:t>🐙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463040" y="3886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GitHub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63040" y="425196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Versionare, colaborare, gestionare sarcini prin Issues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5B5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Arhitectura aplicației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unidirecțional inspirat din React/Flutter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371600" y="1691640"/>
            <a:ext cx="6400800" cy="502920"/>
          </a:xfrm>
          <a:prstGeom prst="rect">
            <a:avLst/>
          </a:prstGeom>
          <a:solidFill>
            <a:srgbClr val="5B5FE6"/>
          </a:solidFill>
          <a:ln/>
        </p:spPr>
      </p:sp>
      <p:sp>
        <p:nvSpPr>
          <p:cNvPr id="5" name="Text 3"/>
          <p:cNvSpPr/>
          <p:nvPr/>
        </p:nvSpPr>
        <p:spPr>
          <a:xfrm>
            <a:off x="1554480" y="16916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Stratul de prezentare (UI)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754880" y="16916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 Flet — ecranele aplicației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0" y="21488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B7280"/>
                </a:solidFill>
              </a:rPr>
              <a:t>↓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371600" y="2331720"/>
            <a:ext cx="6400800" cy="502920"/>
          </a:xfrm>
          <a:prstGeom prst="rect">
            <a:avLst/>
          </a:prstGeom>
          <a:solidFill>
            <a:srgbClr val="7F77DD"/>
          </a:solidFill>
          <a:ln/>
        </p:spPr>
      </p:sp>
      <p:sp>
        <p:nvSpPr>
          <p:cNvPr id="9" name="Text 7"/>
          <p:cNvSpPr/>
          <p:nvPr/>
        </p:nvSpPr>
        <p:spPr>
          <a:xfrm>
            <a:off x="1554480" y="23317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Stratul de logică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54880" y="23317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Tranziții, exerciții asyncio, procesare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0" y="27889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B7280"/>
                </a:solidFill>
              </a:rPr>
              <a:t>↓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371600" y="2971800"/>
            <a:ext cx="6400800" cy="502920"/>
          </a:xfrm>
          <a:prstGeom prst="rect">
            <a:avLst/>
          </a:prstGeom>
          <a:solidFill>
            <a:srgbClr val="26C6A0"/>
          </a:solidFill>
          <a:ln/>
        </p:spPr>
      </p:sp>
      <p:sp>
        <p:nvSpPr>
          <p:cNvPr id="13" name="Text 11"/>
          <p:cNvSpPr/>
          <p:nvPr/>
        </p:nvSpPr>
        <p:spPr>
          <a:xfrm>
            <a:off x="1554480" y="29718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Stratul de stare (AppState)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54880" y="29718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Source of Truth pentru toate datele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0" y="34290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B7280"/>
                </a:solidFill>
              </a:rPr>
              <a:t>↓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371600" y="3611880"/>
            <a:ext cx="6400800" cy="502920"/>
          </a:xfrm>
          <a:prstGeom prst="rect">
            <a:avLst/>
          </a:prstGeom>
          <a:solidFill>
            <a:srgbClr val="FF7E5F"/>
          </a:solidFill>
          <a:ln/>
        </p:spPr>
      </p:sp>
      <p:sp>
        <p:nvSpPr>
          <p:cNvPr id="17" name="Text 15"/>
          <p:cNvSpPr/>
          <p:nvPr/>
        </p:nvSpPr>
        <p:spPr>
          <a:xfrm>
            <a:off x="1554480" y="36118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Sistemul de teme (get_colors)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754880" y="36118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Paletă activă — comutare contrast înalt instant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Acțiunile utilizatorului → modifică starea → declanșează re-randarea UI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5B5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 ne diferențiem de concurență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5F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MindGuard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5F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5F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Headspace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5F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Wysa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5F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Pentru copii cu dizabilități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A3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A3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A3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sub 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Gratuit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A3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$70/an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A3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$70/an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Freemium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Personalizare per dizabilitate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A3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A3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Parțial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Limba română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A3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A3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A3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Forum comunitar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A3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A3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A3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source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A3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A3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A3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5B5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Echipa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Două eleve de clasa a XI-a, fiecare cu pasiunea și competențele ei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749040" cy="3108960"/>
          </a:xfrm>
          <a:prstGeom prst="rect">
            <a:avLst/>
          </a:prstGeom>
          <a:solidFill>
            <a:srgbClr val="F8FAFF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3749040" cy="548640"/>
          </a:xfrm>
          <a:prstGeom prst="rect">
            <a:avLst/>
          </a:prstGeom>
          <a:solidFill>
            <a:srgbClr val="5B5FE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916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Chirilus Anastasia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331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5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Manager &amp; UX Designer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788920"/>
            <a:ext cx="3383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Documentarea</a:t>
            </a: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problemei</a:t>
            </a:r>
            <a:endParaRPr lang="en-US" sz="1200" dirty="0"/>
          </a:p>
          <a:p>
            <a:pPr marL="342900" indent="-342900">
              <a:buSzPct val="100000"/>
              <a:buFontTx/>
              <a:buChar char="•"/>
            </a:pPr>
            <a:r>
              <a:rPr lang="en-US" sz="120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Implementare</a:t>
            </a: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Python/Flet</a:t>
            </a:r>
            <a:endParaRPr lang="en-US" sz="1200" dirty="0"/>
          </a:p>
          <a:p>
            <a:pPr marL="342900" indent="-342900">
              <a:buSzPct val="100000"/>
              <a:buFontTx/>
              <a:buChar char="•"/>
            </a:pPr>
            <a:r>
              <a:rPr lang="en-US" sz="120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Gestionare</a:t>
            </a: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GitHub</a:t>
            </a:r>
            <a:endParaRPr lang="en-US" sz="1200" dirty="0"/>
          </a:p>
          <a:p>
            <a:pPr marL="342900" indent="-342900">
              <a:buSzPct val="100000"/>
              <a:buFontTx/>
              <a:buChar char="•"/>
            </a:pPr>
            <a:r>
              <a:rPr lang="en-US" sz="120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Testare</a:t>
            </a: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/>
              <a:t>funcțională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Comparatie</a:t>
            </a: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cu </a:t>
            </a:r>
            <a:r>
              <a:rPr lang="en-US" sz="1200" dirty="0" err="1"/>
              <a:t>concurența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Gestionare</a:t>
            </a: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Instagram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691640"/>
            <a:ext cx="3749040" cy="3108960"/>
          </a:xfrm>
          <a:prstGeom prst="rect">
            <a:avLst/>
          </a:prstGeom>
          <a:solidFill>
            <a:srgbClr val="F8FAFF"/>
          </a:solidFill>
          <a:ln/>
        </p:spPr>
      </p:sp>
      <p:sp>
        <p:nvSpPr>
          <p:cNvPr id="10" name="Shape 8"/>
          <p:cNvSpPr/>
          <p:nvPr/>
        </p:nvSpPr>
        <p:spPr>
          <a:xfrm>
            <a:off x="4754880" y="1691640"/>
            <a:ext cx="3749040" cy="548640"/>
          </a:xfrm>
          <a:prstGeom prst="rect">
            <a:avLst/>
          </a:prstGeom>
          <a:solidFill>
            <a:srgbClr val="26C6A0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6916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Vatamaniuc Karina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937760" y="2331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6C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Developer &amp; Content Creator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0" y="2788920"/>
            <a:ext cx="3383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/>
              <a:t>Documentație</a:t>
            </a:r>
          </a:p>
          <a:p>
            <a:pPr marL="342900" indent="-342900">
              <a:buSzPct val="100000"/>
              <a:buChar char="•"/>
            </a:pPr>
            <a:r>
              <a:rPr lang="en-US" sz="120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Arhitectura</a:t>
            </a: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tehnică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Prezentarea</a:t>
            </a: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/>
              <a:t>soluției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 err="1"/>
              <a:t>Funcționalitățile</a:t>
            </a:r>
            <a:r>
              <a:rPr lang="en-US" sz="1200" dirty="0"/>
              <a:t> </a:t>
            </a:r>
            <a:r>
              <a:rPr lang="en-US" sz="1200" dirty="0" err="1"/>
              <a:t>aplicației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Validarea</a:t>
            </a: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cu </a:t>
            </a:r>
            <a:r>
              <a:rPr lang="en-US" sz="1200" dirty="0" err="1"/>
              <a:t>specialiștii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Conținut vizual Instagram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5B5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Securitate și validarea datelor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Mecanisme de protecție pentru o aplicație destinată copiilor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4023360" cy="3200400"/>
          </a:xfrm>
          <a:prstGeom prst="rect">
            <a:avLst/>
          </a:prstGeom>
          <a:solidFill>
            <a:srgbClr val="F8FAF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645920"/>
            <a:ext cx="91440" cy="3200400"/>
          </a:xfrm>
          <a:prstGeom prst="rect">
            <a:avLst/>
          </a:prstGeom>
          <a:solidFill>
            <a:srgbClr val="26C6A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83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Validarea input-ului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240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5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Funcția sanitize_text()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651760"/>
            <a:ext cx="35661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Verificare tip date (string)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Lungime minimă: 3 caractere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Lungime maximă: 500 caractere (protecție DoS)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Eliminare caractere de control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Filtrare cuvinte interzise (moderare)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645920"/>
            <a:ext cx="4023360" cy="3200400"/>
          </a:xfrm>
          <a:prstGeom prst="rect">
            <a:avLst/>
          </a:prstGeom>
          <a:solidFill>
            <a:srgbClr val="F8FAFF"/>
          </a:solidFill>
          <a:ln/>
        </p:spPr>
      </p:sp>
      <p:sp>
        <p:nvSpPr>
          <p:cNvPr id="10" name="Shape 8"/>
          <p:cNvSpPr/>
          <p:nvPr/>
        </p:nvSpPr>
        <p:spPr>
          <a:xfrm>
            <a:off x="4663440" y="1645920"/>
            <a:ext cx="91440" cy="3200400"/>
          </a:xfrm>
          <a:prstGeom prst="rect">
            <a:avLst/>
          </a:prstGeom>
          <a:solidFill>
            <a:srgbClr val="FF7E5F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783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Tratarea excepțiilor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937760" y="2240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7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Blocuri try/except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0" y="2651760"/>
            <a:ext cx="35661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add_post(): AttributeError + catch-all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start_exercise_timer(): CancelledError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finally pentru cleanup asyncio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Validare durate exerciții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Mesaje de eroare prietenoase utilizatorului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5B5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— ce urmează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Proiectul nostru nu se oprește la concurs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48640" cy="548640"/>
          </a:xfrm>
          <a:prstGeom prst="ellipse">
            <a:avLst/>
          </a:prstGeom>
          <a:solidFill>
            <a:srgbClr val="5B5FE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63040" y="16002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5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Iunie 2026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463040" y="18928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Stabilizare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297680" y="164592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unitare, persistență SQLite, text-to-speech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423160"/>
            <a:ext cx="548640" cy="548640"/>
          </a:xfrm>
          <a:prstGeom prst="ellipse">
            <a:avLst/>
          </a:prstGeom>
          <a:solidFill>
            <a:srgbClr val="7F77DD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463040" y="2377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Vară 2026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463040" y="26700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Extindere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297680" y="242316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 exerciții, lecții emoții, limba semnelor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200400"/>
            <a:ext cx="548640" cy="548640"/>
          </a:xfrm>
          <a:prstGeom prst="ellipse">
            <a:avLst/>
          </a:prstGeom>
          <a:solidFill>
            <a:srgbClr val="26C6A0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200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463040" y="3154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6C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Toamnă 2026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463040" y="34472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Comunitate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297680" y="320040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Moderare forum, raportare, focus group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3977640"/>
            <a:ext cx="548640" cy="548640"/>
          </a:xfrm>
          <a:prstGeom prst="ellipse">
            <a:avLst/>
          </a:prstGeom>
          <a:solidFill>
            <a:srgbClr val="FF7E5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977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463040" y="3931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7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463040" y="42245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Lansare publică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297680" y="397764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Play, App Store, parteneriate ONG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5B5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ce contează MindGuard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15544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"Anxietatea nu cunoaște granițe — afectează orice copil, indiferent de capacitățile sale fizice."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24688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 instrumentele de combatere a ei sunt, în prezent, disponibile aproape exclusiv pentru persoanele fără dizabilități.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0" y="3474720"/>
            <a:ext cx="1828800" cy="45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657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 MindGuard, facem un prim pas concret către corectarea acestui dezechilibru.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42976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ECB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Pentru fiecare copil care merită să se simtă înțeles, în siguranță și în control.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5B5FE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5B5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Mulțumim!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Suntem deschise pentru întrebări și colaborări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371600" y="3200400"/>
            <a:ext cx="2743200" cy="1005840"/>
          </a:xfrm>
          <a:prstGeom prst="rect">
            <a:avLst/>
          </a:prstGeom>
          <a:solidFill>
            <a:srgbClr val="F8FAFF"/>
          </a:solidFill>
          <a:ln/>
        </p:spPr>
      </p:sp>
      <p:sp>
        <p:nvSpPr>
          <p:cNvPr id="6" name="Shape 4"/>
          <p:cNvSpPr/>
          <p:nvPr/>
        </p:nvSpPr>
        <p:spPr>
          <a:xfrm>
            <a:off x="1371600" y="3200400"/>
            <a:ext cx="2743200" cy="73152"/>
          </a:xfrm>
          <a:prstGeom prst="rect">
            <a:avLst/>
          </a:prstGeom>
          <a:solidFill>
            <a:srgbClr val="5B5FE6"/>
          </a:solidFill>
          <a:ln/>
        </p:spPr>
      </p:sp>
      <p:sp>
        <p:nvSpPr>
          <p:cNvPr id="7" name="Text 5"/>
          <p:cNvSpPr/>
          <p:nvPr/>
        </p:nvSpPr>
        <p:spPr>
          <a:xfrm>
            <a:off x="1554480" y="338328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📷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194560" y="3383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5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194560" y="3703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@mind_guard_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3200400"/>
            <a:ext cx="2743200" cy="1005840"/>
          </a:xfrm>
          <a:prstGeom prst="rect">
            <a:avLst/>
          </a:prstGeom>
          <a:solidFill>
            <a:srgbClr val="F8FAFF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0" y="3200400"/>
            <a:ext cx="2743200" cy="73152"/>
          </a:xfrm>
          <a:prstGeom prst="rect">
            <a:avLst/>
          </a:prstGeom>
          <a:solidFill>
            <a:srgbClr val="5B5FE6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338328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🐙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94960" y="3383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5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94960" y="3703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github.com/chirilusanastasia-blip/MindGuard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Chirilus Anastasia  •  Vatamaniuc Karina  •  Clasa a XI-a  •  InfoEducația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695</Words>
  <Application>Microsoft Office PowerPoint</Application>
  <PresentationFormat>On-screen Show (16:9)</PresentationFormat>
  <Paragraphs>189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MindGuard - InfoEducația 2026</dc:title>
  <dc:subject>PptxGenJS Presentation</dc:subject>
  <dc:creator>Chirilus Anastasia &amp; Vatamaniuc Karina</dc:creator>
  <cp:lastModifiedBy>ANTONIE CHIRILUS</cp:lastModifiedBy>
  <cp:revision>2</cp:revision>
  <dcterms:created xsi:type="dcterms:W3CDTF">2026-05-15T20:10:40Z</dcterms:created>
  <dcterms:modified xsi:type="dcterms:W3CDTF">2026-05-20T18:39:49Z</dcterms:modified>
</cp:coreProperties>
</file>